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开场：现在的 Agent 推理、规划、写作都不缺，缺的是「这个领域里真正算数的资料」。
一句话定义：ProofMarket 让你的 Agent 付费委托持有订阅库授权的专家 Agent，拿回一份可验证、可挑战、可结算的研究简报。
两个保证先立住：查准（不能瞎编）、查全（不能偷工减料）——后面整套机制都是为兑现这两个保证。
Demo 跑在 Sepolia 真链上，结尾会现场点开。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只靠通用语料，专业问题答案大概 50 分；要到 90 分，缺的是真正算数的资料——而这些锁在订阅库里。
库方已经开始为 Agent 修接口（Wiley 2025 上线 MCP 检索接口，Elsevier 跟进），但接口只解决「够得着」。
真正稀缺的是三层：授权（按席位、禁转售，没人拥有全部库）、判断（该查哪个库、哪几篇绕不开）、可信（委托出去的研究事前验不了质量）。
桥的断口一头是授权，一头是可信——接口越普及，「信不信得过」反而越尖锐。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有些 Agent 背后站着真实的人类专家或机构：把多年订阅授权、资料存档和领域判断交给一个 Agent 对外服务——它们是 Agent 世界里的领域专家（协议层叫 Provider）。
用户侧 Agent 不必自己完成全部检索，付费委托专家调取证据支持，整个过程发生在 Agent 与 Agent 之间。
专家交付的不是全文，也不是替你做判断，而是研究简报——带证据的内容。「带证据」和「建议」的区别：建议没法评价、没法追责；带证据的内容每条结论都能落到具体文档的具体位置。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一份合格简报的六要素：结论、来源（库标签+定位+哈希）、引用范围说明、相关性说明、覆盖范围声明、不能得出的结论。
注意清单里没有全文，也没有任何原文片段——专家传原文既违反它的订阅许可，也没传递专业经验；简报是专家替你读完原文后的提炼。
至于这份简报可不可信——专家有没有真查、敢不敢负责——这正是后面机制要回答的问题（过渡到下一页）。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付费委托另一个 Agent，立刻变成跨主体协作 + 资金结算问题，三方各有疑虑。
Cobo：用户给 Agent 的不是私钥，是任务级授权——预算/地址/合约/函数/次数/时限都有边界，服务端强制执行。Demo 里有一次真实的越权被拒。
Web3：没有客服可找、没有合同可签——规则只能内置在协议里。基于两个刚标准化的以太坊标准：ERC-8004（身份与信誉）、ERC-8183（带托管预算的 Job 原语，Client/Provider/Evaluator 三角色）。
关键不是「把资料上链」——第三个疑虑（交付值得付款吗）才是 ProofMarket 自己要回答的。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如果无法验证交付，ProofMarket 就只是个付费问答市场。
两类作恶按破坏对象分：毁「准」的——单条资料就能造假，读简报看不出来；毁「全」的——少做的工作不留痕迹，比造假更难发现。
这就是第 1 页「事前验不了质量」落到实处的样子。怎么让作恶必然不划算，下一页。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协议不做事前审查、不做全量复核——先假设交付正确，事后由委托方自己的 Agent 在本地资料库概率抽查。
抽查目标不是证明「全网查完」，而是找到足够明确的反例：定位无效 / 哈希不符 / 范围不支持结论 / 声明范围内漏掉该有的资料。
哈希的意义：用户已有的资料，按定位重算哈希——不符即造假；用户没有的资料，明文和哈希验证上没有差别（本来就核不了）。
经济不等式成立，作恶期望收益就是负的。用户不需要拥有全集——局部权威资料就能约束专家诚实检索。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主线五步全绿直达放款——不是每单都仲裁，只有本地抽查命中反例才进入挑战。
陪审团只做一件事：围绕反例独立验证。合约按涉及的数据库/领域匹配，谁本地有相应资料谁才有资格投票（R1 发现反例 → R2 证据包 → R3 匹配 → R4 本地复核 → R5 投票）。
挑战成立：扣 bond、退款、奖励挑战者；不成立：押金没收。每单评分与挑战记录都写入链上信誉。
两道经济闸：挑战不免费；奖励+陪审费&lt;扣罚，薅不到羊毛——正和激励结构。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一张图收束：上半部分内容流（问题→委托→授权检索→简报→抽查→回答），全部链下，原文不跨边界。
下半部分价值与责任：Cobo 钱包任务级授权注资托管；专家押 bond；正常放款 / 争议退款扣罚；评分与挑战记录进 ERC-8004 信誉注册表。
两层由「同一任务 + 专家签名的哈希承诺」绑定——内容层的承诺，责任层能罚到。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简报不是整体打一个哈希，而是按「总述+逐条资料」组成 Merkle 树，专家只签树根上链。多这一步换来四件事（赖不掉/伪造不了/最小披露/一证翻案）。
贯穿性设计原则：原文不动，信任流动。版权安全是验证机制天然的副产品，不是事后补丁。
对用户没有的资料，明文和哈希在验证上没有本质差别；对用户已有的资料，重算哈希即可核真伪。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第一幕走全绿主线：提问→方案（带库标签和链上信誉排序）→Cobo 越权真实被拦→注资+bond→简报交付→抽查全绿→放款→评分。
第二幕贪便宜选低信誉专家：抽查双红（查准红：哈希错配/范围不支持结论；查全红：声明范围内漏掉公认代表作）→挑战→应辩→陪审员本地重算哈希复核→链上清算。
每个画面证明一件事：Agent 在执行真实经济任务 / 越权绕不过去 / 双方都押了东西 / 交付可抽查 / 争议有规程 / 质量有经济后果。
边界诚实交代：机制全真，内容样例预置；陪审裁决文书当前为确定性预置，协议接口已为接入真实模型设计。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收束到一句话：支撑这一切的不对称性——产出很难，验证很容易。
四个支柱：Cobo 安全花钱 / 简报可问责 / 局部资料就能约束诚实 / 原文不动信任流动。
结尾回到底层问题：Agent 时代，如何让「提供证据的一方」真正为交付负责。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686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AI AGENT 的可信专业资料网络 · 基于 COBO AGENTIC WALLET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10029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40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缺的不是智力，</a:t>
            </a:r>
            <a:endParaRPr lang="en-US" sz="4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0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是权威依据。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3090672"/>
            <a:ext cx="2432304" cy="384048"/>
          </a:xfrm>
          <a:prstGeom prst="roundRect">
            <a:avLst>
              <a:gd name="adj" fmla="val 19048"/>
            </a:avLst>
          </a:prstGeom>
          <a:solidFill>
            <a:srgbClr val="EDF7F2"/>
          </a:solidFill>
          <a:ln w="12700">
            <a:solidFill>
              <a:srgbClr val="BFE3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9067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可验证 · 可挑战 · 可结算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367588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当你的 Agent 需要权威资料支撑严肃研究时，它可以在你授权的预算内，付费委托持有订阅资料库授权的「领域专家 Agent」，拿回一份研究简报——每条结论都落到具体来源的具体段落，不是一段无法核对的建议。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4892040"/>
            <a:ext cx="5120640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49834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保证 A · 查准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5202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专家不能瞎编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55138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简报里每条引用都绑定定位和引用哈希——编造来源、错配内容，被查到就要赔钱。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73952" y="4892040"/>
            <a:ext cx="5120640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49834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保证 B · 查全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73952" y="5202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专家不能偷工减料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3952" y="55138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专家先声明这次查了哪些库、什么范围——声明范围内漏掉该有的资料，同样赔钱。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63276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SEPOLIA TESTNET · 实链可查      COBO AGENTIC WALLET      ERC-8004 · ERC-8183      2026-06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问题定义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02/12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严肃任务问的不是「答得顺不顺」，而是「判断凭什么」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的推理、规划、写作已经够用——缺的是领域里真正算数的资料：公认结论、最新基准、生效口径。它们不在公开网页上，锁在订阅库里。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DEMAND · 需求侧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3200400" cy="2697480"/>
          </a:xfrm>
          <a:prstGeom prst="roundRect">
            <a:avLst>
              <a:gd name="adj" fmla="val 1864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用户侧研究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325880" cy="457200"/>
          </a:xfrm>
          <a:prstGeom prst="roundRect">
            <a:avLst>
              <a:gd name="adj" fmla="val 11000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743200"/>
            <a:ext cx="1325880" cy="457200"/>
          </a:xfrm>
          <a:prstGeom prst="roundRect">
            <a:avLst>
              <a:gd name="adj" fmla="val 11000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310128"/>
            <a:ext cx="1325880" cy="457200"/>
          </a:xfrm>
          <a:prstGeom prst="roundRect">
            <a:avLst>
              <a:gd name="adj" fmla="val 11000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01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3310128"/>
            <a:ext cx="1325880" cy="457200"/>
          </a:xfrm>
          <a:prstGeom prst="roundRect">
            <a:avLst>
              <a:gd name="adj" fmla="val 11000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33101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005072"/>
            <a:ext cx="274320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22960" y="4114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能力已经足够，缺的是可信、可问责的资料支撑。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94192" y="1938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SUPPLY · 锁在订阅库里的权威资料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394192" y="2194560"/>
            <a:ext cx="3200400" cy="676656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2194560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论文库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IEEE · ACM · ELSEVIER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1291011" y="2441448"/>
            <a:ext cx="98755" cy="98755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76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65408" y="2501798"/>
            <a:ext cx="149962" cy="107899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3970">
            <a:solidFill>
              <a:srgbClr val="6F76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3035808"/>
            <a:ext cx="3200400" cy="676656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7072" y="3035808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行业研究库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GARTNER · IDC · MESSARI PRO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1291011" y="3282696"/>
            <a:ext cx="98755" cy="98755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76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408" y="3343046"/>
            <a:ext cx="149962" cy="107899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3970">
            <a:solidFill>
              <a:srgbClr val="6F76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2" y="3877056"/>
            <a:ext cx="3200400" cy="676656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7072" y="387705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金融数据库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BLOOMBERG · WIND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1291011" y="4123944"/>
            <a:ext cx="98755" cy="98755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F76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65408" y="4184294"/>
            <a:ext cx="149962" cy="107899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3970">
            <a:solidFill>
              <a:srgbClr val="6F76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272491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断裂的证据桥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794760" y="3374136"/>
            <a:ext cx="1691640" cy="0"/>
          </a:xfrm>
          <a:prstGeom prst="line">
            <a:avLst/>
          </a:prstGeom>
          <a:noFill/>
          <a:ln w="31750">
            <a:solidFill>
              <a:srgbClr val="1618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02552" y="3374136"/>
            <a:ext cx="1691640" cy="0"/>
          </a:xfrm>
          <a:prstGeom prst="line">
            <a:avLst/>
          </a:prstGeom>
          <a:noFill/>
          <a:ln w="31750">
            <a:solidFill>
              <a:srgbClr val="1618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3374136"/>
            <a:ext cx="1216152" cy="0"/>
          </a:xfrm>
          <a:prstGeom prst="line">
            <a:avLst/>
          </a:prstGeom>
          <a:noFill/>
          <a:ln w="12700">
            <a:solidFill>
              <a:srgbClr val="CFD4D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31536" y="3264408"/>
            <a:ext cx="118872" cy="219456"/>
          </a:xfrm>
          <a:prstGeom prst="line">
            <a:avLst/>
          </a:prstGeom>
          <a:noFill/>
          <a:ln w="25400">
            <a:solidFill>
              <a:srgbClr val="D92D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47688" y="3264408"/>
            <a:ext cx="118872" cy="219456"/>
          </a:xfrm>
          <a:prstGeom prst="line">
            <a:avLst/>
          </a:prstGeom>
          <a:noFill/>
          <a:ln w="25400">
            <a:solidFill>
              <a:srgbClr val="D92D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355701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网页搜索补不上这个缺口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69080" y="3968496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授权按席位、禁转售——没人拥有全部库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委托出去的研究，事前验不了质量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5349240"/>
            <a:ext cx="11002975" cy="0"/>
          </a:xfrm>
          <a:prstGeom prst="line">
            <a:avLst/>
          </a:prstGeom>
          <a:noFill/>
          <a:ln w="15240">
            <a:solidFill>
              <a:srgbClr val="1618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468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问题的本质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4360" y="5760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Agent 缺的不是更多接口，而是一个可靠且可问责的证据支撑层。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产品定义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03/12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连接持库专家的网络，交付「带证据的内容」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25880" y="1572768"/>
            <a:ext cx="2651760" cy="566928"/>
          </a:xfrm>
          <a:prstGeom prst="roundRect">
            <a:avLst>
              <a:gd name="adj" fmla="val 8871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论文库   </a:t>
            </a:r>
            <a:pPr algn="ctr" indent="0" marL="0"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IEEE · ACM · ELSEVIER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73168" y="1572768"/>
            <a:ext cx="2651760" cy="566928"/>
          </a:xfrm>
          <a:prstGeom prst="roundRect">
            <a:avLst>
              <a:gd name="adj" fmla="val 8871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行业研究库   </a:t>
            </a:r>
            <a:pPr algn="ctr" indent="0" marL="0"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GARTNER · MESSARI PRO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0456" y="1572768"/>
            <a:ext cx="2651760" cy="566928"/>
          </a:xfrm>
          <a:prstGeom prst="roundRect">
            <a:avLst>
              <a:gd name="adj" fmla="val 8871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0456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金融数据库   </a:t>
            </a:r>
            <a:pPr algn="ctr" indent="0" marL="0"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BLOOMBERG · WIND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2139696"/>
            <a:ext cx="0" cy="512064"/>
          </a:xfrm>
          <a:prstGeom prst="line">
            <a:avLst/>
          </a:prstGeom>
          <a:noFill/>
          <a:ln w="12700">
            <a:solidFill>
              <a:srgbClr val="CFD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订阅授权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99048" y="2139696"/>
            <a:ext cx="0" cy="512064"/>
          </a:xfrm>
          <a:prstGeom prst="line">
            <a:avLst/>
          </a:prstGeom>
          <a:noFill/>
          <a:ln w="12700">
            <a:solidFill>
              <a:srgbClr val="CFD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订阅授权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9546336" y="2139696"/>
            <a:ext cx="0" cy="512064"/>
          </a:xfrm>
          <a:prstGeom prst="line">
            <a:avLst/>
          </a:prstGeom>
          <a:noFill/>
          <a:ln w="12700">
            <a:solidFill>
              <a:srgbClr val="CF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9488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订阅授权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325880" y="2651760"/>
            <a:ext cx="265176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651760"/>
            <a:ext cx="26517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领域专家 Agent α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 · 论文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2651760"/>
            <a:ext cx="265176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651760"/>
            <a:ext cx="26517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领域专家 Agent β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 · 行业研究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0456" y="2651760"/>
            <a:ext cx="265176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0456" y="2651760"/>
            <a:ext cx="26517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领域专家 Agent γ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 · 金融数据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3364992"/>
            <a:ext cx="2633472" cy="768096"/>
          </a:xfrm>
          <a:prstGeom prst="line">
            <a:avLst/>
          </a:prstGeom>
          <a:noFill/>
          <a:ln w="15875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99048" y="3364992"/>
            <a:ext cx="0" cy="731520"/>
          </a:xfrm>
          <a:prstGeom prst="line">
            <a:avLst/>
          </a:prstGeom>
          <a:noFill/>
          <a:ln w="15875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6912864" y="3364992"/>
            <a:ext cx="2633472" cy="768096"/>
          </a:xfrm>
          <a:prstGeom prst="line">
            <a:avLst/>
          </a:prstGeom>
          <a:noFill/>
          <a:ln w="15875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236208" y="3703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注册 · 报价 · 接单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56048" y="4133088"/>
            <a:ext cx="2286000" cy="868680"/>
          </a:xfrm>
          <a:prstGeom prst="roundRect">
            <a:avLst>
              <a:gd name="adj" fmla="val 5789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41330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ProofMarket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9CD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委托 · 交付 · 验收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" y="5349240"/>
            <a:ext cx="2834640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49240"/>
            <a:ext cx="2834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用户侧研究 Agent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带着问题与预算而来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flipV="1">
            <a:off x="3456432" y="4736592"/>
            <a:ext cx="1481328" cy="576072"/>
          </a:xfrm>
          <a:prstGeom prst="line">
            <a:avLst/>
          </a:prstGeom>
          <a:noFill/>
          <a:ln w="17780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749040" y="4773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付费委托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H="1">
            <a:off x="3648456" y="5029200"/>
            <a:ext cx="1417320" cy="640080"/>
          </a:xfrm>
          <a:prstGeom prst="line">
            <a:avLst/>
          </a:prstGeom>
          <a:noFill/>
          <a:ln w="1778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160520" y="5760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研究简报（带证据）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12480" y="53492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5349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 不是建议，不是原文转售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58338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简报是专家替你读完原文后的提炼——每条结论可落位、可核对，谁有授权谁都能核对。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交付物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04/12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研究简报：带证据的内容——没有原文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63093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572768"/>
            <a:ext cx="6272784" cy="42062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727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 #042 · RESEARCH BRIEF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 0x8f3C…21aB · BOND 10 mUSDC LOCKED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1993392"/>
            <a:ext cx="630936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覆盖范围声明  ⌜A1⌟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" y="2340864"/>
            <a:ext cx="5907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检索库 ACM DL · IEEE Xplore · Messari Pro ｜ 时间窗 2022-01 → 2026-05 ｜ 主题：L2 数据可用性成本结构 ｜ 排除：未正式发表的预印本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944368"/>
            <a:ext cx="630936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035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逐条引用（示意 2 条）  ⌜A2⌟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95528" y="3310128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310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ACM DL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801368" y="3310128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DOI 10.1145/3618257.3624811 · §4.2 表3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5528" y="3584448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引用承诺：范围 §4.2 · 表3 · 行 DA-01~03 · 引用哈希 0x9c41…7f2a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" y="3813048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相关性：直接支撑结论 ① ——成本重心已从数据可用性转向执行与证明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" y="4224528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24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MESSARI PRO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801368" y="4224528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 2026-Q1 · L2 Economics · Fig.12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" y="4498848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引用承诺：范围 Fig.12 · 图注 + 2026-03 数据行 · 引用哈希 0x3e77…c4a0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727448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相关性：为结论 ② 提供最新市场基准数据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5010912"/>
            <a:ext cx="630936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102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不能得出的结论  ⌜A3⌟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" y="5330952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现有证据不足以外推到 Validium 类架构；样本未覆盖 2026-04 之后的 blob 重新定价提案影响。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" y="5907024"/>
            <a:ext cx="6272784" cy="47548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" y="59070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MERKLE ROOT 0x7c19…e4d2 · SIG 0x41af…90bc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74920" y="5989320"/>
            <a:ext cx="16276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240">
            <a:solidFill>
              <a:srgbClr val="0794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598932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专家签名 · 已上链 ⌜A4⌟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269480" y="1600200"/>
            <a:ext cx="4297680" cy="21946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1673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69480" y="18745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覆盖声明即承诺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69480" y="2130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查全挑战只在声明范围内成立——既不许偷懒，也不冤枉人。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69480" y="2624328"/>
            <a:ext cx="4297680" cy="21946"/>
          </a:xfrm>
          <a:prstGeom prst="rect">
            <a:avLst/>
          </a:prstGeom>
          <a:solidFill>
            <a:srgbClr val="CFD4DC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2697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69480" y="28986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每条资料四件套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6948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来源库标签 + 精确定位 + 引用范围 + 引用哈希；核对靠持授权方本地重算哈希。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9480" y="3648456"/>
            <a:ext cx="4297680" cy="21946"/>
          </a:xfrm>
          <a:prstGeom prst="rect">
            <a:avLst/>
          </a:prstGeom>
          <a:solidFill>
            <a:srgbClr val="CFD4DC"/>
          </a:solidFill>
          <a:ln/>
        </p:spPr>
      </p:sp>
      <p:sp>
        <p:nvSpPr>
          <p:cNvPr id="41" name="Text 39"/>
          <p:cNvSpPr/>
          <p:nvPr/>
        </p:nvSpPr>
        <p:spPr>
          <a:xfrm>
            <a:off x="7269480" y="3721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69480" y="3922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撑不到的地方明说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69480" y="4178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不支持哪些外推写清楚——这也是可问责的一部分。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69480" y="4672584"/>
            <a:ext cx="4297680" cy="21946"/>
          </a:xfrm>
          <a:prstGeom prst="rect">
            <a:avLst/>
          </a:prstGeom>
          <a:solidFill>
            <a:srgbClr val="CFD4DC"/>
          </a:solidFill>
          <a:ln/>
        </p:spPr>
      </p:sp>
      <p:sp>
        <p:nvSpPr>
          <p:cNvPr id="45" name="Text 43"/>
          <p:cNvSpPr/>
          <p:nvPr/>
        </p:nvSpPr>
        <p:spPr>
          <a:xfrm>
            <a:off x="7269480" y="4745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69480" y="49469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Merkle 根签名上链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69480" y="52029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简报按「总述 + 逐条资料」组成 Merkle 树，树根签名上链——改一个字段都对不上。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69480" y="5806440"/>
            <a:ext cx="1207008" cy="365760"/>
          </a:xfrm>
          <a:prstGeom prst="roundRect">
            <a:avLst>
              <a:gd name="adj" fmla="val 20000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 没有全文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86216" y="5806440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86216" y="5806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 没有原文片段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287000" y="5806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原文不跨越授权边界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· 为什么 COBO 与 WEB3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05/12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一旦 Agent 开始花钱委托，就不只是信息问题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484632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用户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钱花得有边界吗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311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最多花多少、能付给谁、能调哪些合约、授权多久失效——越权会被真实拦截吗？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484632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26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专家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交付了能收到钱吗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委托方会不会无理由拒付？交付记录是否不可抵赖？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4041648"/>
            <a:ext cx="484632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委托方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334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交付值得付款吗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645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有没有真查资料？定位与哈希真实吗？承诺范围内有没有漏掉重要资料？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5248656"/>
            <a:ext cx="4846320" cy="0"/>
          </a:xfrm>
          <a:prstGeom prst="line">
            <a:avLst/>
          </a:prstGeom>
          <a:noFill/>
          <a:ln w="9525">
            <a:solidFill>
              <a:srgbClr val="E9EA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627632"/>
            <a:ext cx="4873752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792224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Cobo Agentic Wallet — 安全花钱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49440" y="2103120"/>
            <a:ext cx="4416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不把私钥交给 Agent，而是任务级授权：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 · 地址 · 合约 · 函数 · 次数 · 时限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服务端强制执行，越权请求被真实拒绝。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3310128"/>
            <a:ext cx="4873752" cy="1755648"/>
          </a:xfrm>
          <a:prstGeom prst="roundRect">
            <a:avLst>
              <a:gd name="adj" fmla="val 286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47472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Web3 — 可复盘的跨主体责任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3785616"/>
            <a:ext cx="4416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付款、交付承诺、争议裁决、扣罚与信誉全部成为链上可复盘记录；裁决执行任何人可触发，平台不必在场。交易双方都是程序——规则只能内置在协议里。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457200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F7F8FA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572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ERC-8004 · 身份与信誉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00" y="457200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F7F8FA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4572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ERC-8183 · AGENTIC COMMERCE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50408" y="2286000"/>
            <a:ext cx="1060704" cy="82296"/>
          </a:xfrm>
          <a:prstGeom prst="line">
            <a:avLst/>
          </a:prstGeom>
          <a:noFill/>
          <a:ln w="17780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50408" y="3493008"/>
            <a:ext cx="1060704" cy="530352"/>
          </a:xfrm>
          <a:prstGeom prst="line">
            <a:avLst/>
          </a:prstGeom>
          <a:noFill/>
          <a:ln w="17780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550408" y="4700016"/>
            <a:ext cx="1060704" cy="713232"/>
          </a:xfrm>
          <a:prstGeom prst="line">
            <a:avLst/>
          </a:prstGeom>
          <a:noFill/>
          <a:ln w="2032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20840" y="5285232"/>
            <a:ext cx="4873752" cy="566928"/>
          </a:xfrm>
          <a:prstGeom prst="roundRect">
            <a:avLst>
              <a:gd name="adj" fmla="val 8871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5285232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「交付值得付款吗」——正是 ProofMarket 核心机制要回答的问题 →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6053328"/>
            <a:ext cx="11002975" cy="0"/>
          </a:xfrm>
          <a:prstGeom prst="line">
            <a:avLst/>
          </a:prstGeom>
          <a:noFill/>
          <a:ln w="15240">
            <a:solidFill>
              <a:srgbClr val="1618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6199632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Cobo 解决 Agent 能不能安全花钱；ProofMarket 解决专家的交付值不值得付款。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· 核心难点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06/12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假设专家会作恶：一类毁「准」，一类毁「全」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少查一个库、编一条来源，省下的都是真金白银——Web3 的设问方式是直接假设专家会为经济利益作恶。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5303520" cy="3456432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39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作恶 · PRECISION ｜ 毁「准」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给的资料被动了手脚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编造不存在的来源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定位无效——DOI、页码对不上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引用哈希与内容错配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资料真实，但并不支持对应结论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把来源 A 的内容安到来源 B 头上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" y="4828032"/>
            <a:ext cx="5266944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28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单条资料就能造假——读简报本身看不出来。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91072" y="1956816"/>
            <a:ext cx="5303520" cy="3456432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139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作恶 · COVERAGE ｜ 毁「全」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65392" y="23957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该查的没查、该给的没给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65392" y="285292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自称覆盖整库，实际只检索零头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漏掉领域内公认的代表作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用浅层结果充数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✕"/>
            </a:pPr>
            <a:r>
              <a:rPr lang="en-US" sz="11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漏掉关键资料，也不说明排除理由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4828032"/>
            <a:ext cx="5266944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828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少做的工作不留痕迹——比造假更难发现。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5989320"/>
            <a:ext cx="11002975" cy="0"/>
          </a:xfrm>
          <a:prstGeom prst="line">
            <a:avLst/>
          </a:prstGeom>
          <a:noFill/>
          <a:ln w="15240">
            <a:solidFill>
              <a:srgbClr val="1618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1264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不能指望专家自觉——只能让两类作恶在经济上必然不划算。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· 核心机制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07/12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先信任交付，概率抽查兜底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整套机制建立在一个不对称性上：产出一份高质量简报很难；概率性地检查它做没做对，很容易。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237744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408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研究简报交付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先假设正确，直接交付——不做事前审查，不做全量复核。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44952" y="2807208"/>
            <a:ext cx="566928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2212848"/>
            <a:ext cx="406908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5240">
            <a:solidFill>
              <a:srgbClr val="CFD4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3408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委托方 Agent 本地抽查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86200" y="263347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查准——按定位重算引用哈希，核对上下文是否支持结论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查全——在声明范围内找「该出现而没出现」的资料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86200" y="31638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在自有授权的本地资料上执行 · 不需要专家提供原文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72400" y="2807208"/>
            <a:ext cx="566928" cy="0"/>
          </a:xfrm>
          <a:prstGeom prst="line">
            <a:avLst/>
          </a:prstGeom>
          <a:noFill/>
          <a:ln w="2032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882128" y="2578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全绿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394192" y="2212848"/>
            <a:ext cx="320040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7780">
            <a:solidFill>
              <a:srgbClr val="079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托管放款 · 评分上链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22792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挑战窗口结束即结算；评分与记录写入链上信誉。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22792" y="3163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SETTLE → ERC-8004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87568" y="3401568"/>
            <a:ext cx="0" cy="530352"/>
          </a:xfrm>
          <a:prstGeom prst="line">
            <a:avLst/>
          </a:prstGeom>
          <a:noFill/>
          <a:ln w="20320">
            <a:solidFill>
              <a:srgbClr val="D92D20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0" y="3968496"/>
            <a:ext cx="4069080" cy="530352"/>
          </a:xfrm>
          <a:prstGeom prst="roundRect">
            <a:avLst>
              <a:gd name="adj" fmla="val 9483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96849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命中反例 → 发起挑战（流程见下页）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846320"/>
            <a:ext cx="11002975" cy="71323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4632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被抓概率 × 罚金</a:t>
            </a:r>
            <a:pPr indent="0" marL="0">
              <a:buNone/>
            </a:pPr>
            <a:r>
              <a:rPr lang="en-US" sz="150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＞  </a:t>
            </a:r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作恶省下的成本</a:t>
            </a:r>
            <a:pPr indent="0" marL="0">
              <a:buNone/>
            </a:pPr>
            <a:r>
              <a:rPr lang="en-US" sz="1050" dirty="0">
                <a:solidFill>
                  <a:srgbClr val="585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——作恶期望收益为负，诚实是唯一稳定策略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5833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专家的处境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6071616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「我漏掉、错配或伪造的任何内容，都可能刚好在用户手里。」</a:t>
            </a:r>
            <a:pPr indent="0" marL="0"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信息不对称站在诚实一方——专家不知道你本地有什么、会抽到什么。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· 挑战与结算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08/12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主线直达放款；命中反例才进入挑战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MAIN PATH · 正常主线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956816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19568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专家交付简报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DELIVER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87752" y="2103120"/>
            <a:ext cx="228600" cy="0"/>
          </a:xfrm>
          <a:prstGeom prst="line">
            <a:avLst/>
          </a:prstGeom>
          <a:noFill/>
          <a:ln w="1905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52928" y="1737360"/>
            <a:ext cx="1956816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737360"/>
            <a:ext cx="19568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签名哈希上链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228600" cy="0"/>
          </a:xfrm>
          <a:prstGeom prst="line">
            <a:avLst/>
          </a:prstGeom>
          <a:noFill/>
          <a:ln w="1905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11496" y="1737360"/>
            <a:ext cx="1956816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1737360"/>
            <a:ext cx="19568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挑战窗口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窗口内合约拒绝放款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04888" y="2103120"/>
            <a:ext cx="228600" cy="0"/>
          </a:xfrm>
          <a:prstGeom prst="line">
            <a:avLst/>
          </a:prstGeom>
          <a:noFill/>
          <a:ln w="1905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70064" y="1737360"/>
            <a:ext cx="1956816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1737360"/>
            <a:ext cx="19568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委托方本地抽查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查准 + 查全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63456" y="2103120"/>
            <a:ext cx="228600" cy="0"/>
          </a:xfrm>
          <a:prstGeom prst="line">
            <a:avLst/>
          </a:prstGeom>
          <a:noFill/>
          <a:ln w="1905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28632" y="1737360"/>
            <a:ext cx="1956816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7780">
            <a:solidFill>
              <a:srgbClr val="079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28632" y="1737360"/>
            <a:ext cx="19568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托管放款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SETTLE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607040" y="2468880"/>
            <a:ext cx="0" cy="384048"/>
          </a:xfrm>
          <a:prstGeom prst="line">
            <a:avLst/>
          </a:prstGeom>
          <a:noFill/>
          <a:ln w="15875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28632" y="2889504"/>
            <a:ext cx="1956816" cy="512064"/>
          </a:xfrm>
          <a:prstGeom prst="roundRect">
            <a:avLst>
              <a:gd name="adj" fmla="val 9821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8632" y="2889504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用户评分 → 链上信誉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H="1">
            <a:off x="1792224" y="2468880"/>
            <a:ext cx="6556248" cy="1124712"/>
          </a:xfrm>
          <a:prstGeom prst="line">
            <a:avLst/>
          </a:prstGeom>
          <a:noFill/>
          <a:ln w="19050">
            <a:solidFill>
              <a:srgbClr val="D92D20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885432" y="27249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任一抽检失败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163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CHALLENGE PATH · 挑战分支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" y="3621024"/>
            <a:ext cx="2395728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621024"/>
            <a:ext cx="23957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提交反例证据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定位 · 范围 · 哈希路径 ＋ 押金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35808" y="3986784"/>
            <a:ext cx="292608" cy="0"/>
          </a:xfrm>
          <a:prstGeom prst="line">
            <a:avLst/>
          </a:prstGeom>
          <a:noFill/>
          <a:ln w="1905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74136" y="3621024"/>
            <a:ext cx="2395728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3621024"/>
            <a:ext cx="23957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专家提交应辩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解释 · 补证 · 等待投票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15584" y="3986784"/>
            <a:ext cx="292608" cy="0"/>
          </a:xfrm>
          <a:prstGeom prst="line">
            <a:avLst/>
          </a:prstGeom>
          <a:noFill/>
          <a:ln w="1905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53912" y="3621024"/>
            <a:ext cx="2395728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3621024"/>
            <a:ext cx="23957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合约匹配陪审员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谁本地有对应资料，谁才有资格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0" y="3986784"/>
            <a:ext cx="292608" cy="0"/>
          </a:xfrm>
          <a:prstGeom prst="line">
            <a:avLst/>
          </a:prstGeom>
          <a:noFill/>
          <a:ln w="1905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33688" y="3621024"/>
            <a:ext cx="2395728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33688" y="3621024"/>
            <a:ext cx="23957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陪审员本地复核投票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重算哈希 · 核上下文 · 通过/反对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8778240" y="4352544"/>
            <a:ext cx="621792" cy="54864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3291840" y="4352544"/>
            <a:ext cx="5833872" cy="548640"/>
          </a:xfrm>
          <a:prstGeom prst="line">
            <a:avLst/>
          </a:prstGeom>
          <a:noFill/>
          <a:ln w="17780">
            <a:solidFill>
              <a:srgbClr val="CFD4DC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4937760"/>
            <a:ext cx="493776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937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挑战不成立    </a:t>
            </a:r>
            <a:pPr indent="0" marL="0"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正常结算放款 · 挑战押金没收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4937760"/>
            <a:ext cx="5605272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6510">
            <a:solidFill>
              <a:srgbClr val="D92D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9377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挑战成立    </a:t>
            </a:r>
            <a:pPr indent="0" marL="0"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退款委托方 · 扣专家 bond · 奖励挑战者 · 信誉下降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" y="5907024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挑战不免费：押金 + 陪审费约束滥诉；合约强制「挑战者奖励 + 陪审费 ＜ 扣罚」——自买自挑战净收益恒为负。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陪审员只复核争议反例，不重写整份简报；按反例涉及的库与领域自动匹配，无对应资料者不进入本案。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· 系统全景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09/12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内容走链下，价值与责任走链上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3950208"/>
            <a:ext cx="11002975" cy="0"/>
          </a:xfrm>
          <a:prstGeom prst="line">
            <a:avLst/>
          </a:prstGeom>
          <a:noFill/>
          <a:ln w="12700">
            <a:solidFill>
              <a:srgbClr val="CFD4D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OFF-CHAIN · 内容流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4023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ON-CHAIN · 价值与责任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700784"/>
            <a:ext cx="173736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00784"/>
            <a:ext cx="1737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OWNER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1700784"/>
            <a:ext cx="224028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700784"/>
            <a:ext cx="2240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用户侧研究 Agent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700784"/>
            <a:ext cx="224028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00784"/>
            <a:ext cx="2240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领域专家 Agent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8320" y="1700784"/>
            <a:ext cx="2176272" cy="713232"/>
          </a:xfrm>
          <a:prstGeom prst="roundRect">
            <a:avLst>
              <a:gd name="adj" fmla="val 7051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700784"/>
            <a:ext cx="21762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订阅资料库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IEEE · ACM · GARTNER · WIND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31720" y="1993392"/>
            <a:ext cx="649224" cy="0"/>
          </a:xfrm>
          <a:prstGeom prst="line">
            <a:avLst/>
          </a:prstGeom>
          <a:noFill/>
          <a:ln w="1778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340864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1993392"/>
            <a:ext cx="1060704" cy="0"/>
          </a:xfrm>
          <a:prstGeom prst="line">
            <a:avLst/>
          </a:prstGeom>
          <a:noFill/>
          <a:ln w="1778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349240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付费委托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95360" y="1993392"/>
            <a:ext cx="786384" cy="0"/>
          </a:xfrm>
          <a:prstGeom prst="line">
            <a:avLst/>
          </a:prstGeom>
          <a:noFill/>
          <a:ln w="1778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13648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授权检索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0" y="2907792"/>
            <a:ext cx="224028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7780">
            <a:solidFill>
              <a:srgbClr val="0794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907792"/>
            <a:ext cx="2240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研究简报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定位 · 哈希 · 覆盖声明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H="1">
            <a:off x="8037576" y="2414016"/>
            <a:ext cx="1746504" cy="621792"/>
          </a:xfrm>
          <a:prstGeom prst="line">
            <a:avLst/>
          </a:prstGeom>
          <a:noFill/>
          <a:ln w="15875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 flipV="1">
            <a:off x="4133088" y="2450592"/>
            <a:ext cx="1591056" cy="786384"/>
          </a:xfrm>
          <a:prstGeom prst="line">
            <a:avLst/>
          </a:prstGeom>
          <a:noFill/>
          <a:ln w="1778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06240" y="29992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 + 本地抽查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flipH="1">
            <a:off x="1783080" y="2286000"/>
            <a:ext cx="1197864" cy="128016"/>
          </a:xfrm>
          <a:prstGeom prst="line">
            <a:avLst/>
          </a:prstGeom>
          <a:noFill/>
          <a:ln w="15875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920240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最终回答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17520" y="4370832"/>
            <a:ext cx="2240280" cy="749808"/>
          </a:xfrm>
          <a:prstGeom prst="roundRect">
            <a:avLst>
              <a:gd name="adj" fmla="val 6707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4370832"/>
            <a:ext cx="2240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Cobo 授权钱包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预算 · 地址 · 函数 · 时限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55080" y="4370832"/>
            <a:ext cx="2240280" cy="749808"/>
          </a:xfrm>
          <a:prstGeom prst="roundRect">
            <a:avLst>
              <a:gd name="adj" fmla="val 6707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37083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链上托管合约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spc="100" kern="0" dirty="0">
                <a:solidFill>
                  <a:srgbClr val="C9CD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 · BOND · 状态机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18320" y="4370832"/>
            <a:ext cx="2176272" cy="749808"/>
          </a:xfrm>
          <a:prstGeom prst="roundRect">
            <a:avLst>
              <a:gd name="adj" fmla="val 6707"/>
            </a:avLst>
          </a:prstGeom>
          <a:solidFill>
            <a:srgbClr val="FFFFFF"/>
          </a:solidFill>
          <a:ln w="12700">
            <a:solidFill>
              <a:srgbClr val="CFD4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4370832"/>
            <a:ext cx="21762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信誉注册表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ERC-8004 · 评分 · 挑战记录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55080" y="5486400"/>
            <a:ext cx="224028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15240">
            <a:solidFill>
              <a:srgbClr val="F2C7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486400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陪审池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10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CHALLENGE MANAGER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463040" y="2414016"/>
            <a:ext cx="1828800" cy="1920240"/>
          </a:xfrm>
          <a:prstGeom prst="line">
            <a:avLst/>
          </a:prstGeom>
          <a:noFill/>
          <a:ln w="17780">
            <a:solidFill>
              <a:srgbClr val="B54708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627632" y="3383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470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任务级授权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4745736"/>
            <a:ext cx="1060704" cy="0"/>
          </a:xfrm>
          <a:prstGeom prst="line">
            <a:avLst/>
          </a:prstGeom>
          <a:noFill/>
          <a:ln w="17780">
            <a:solidFill>
              <a:srgbClr val="B54708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440680" y="44988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470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275320" y="2414016"/>
            <a:ext cx="0" cy="1920240"/>
          </a:xfrm>
          <a:prstGeom prst="line">
            <a:avLst/>
          </a:prstGeom>
          <a:noFill/>
          <a:ln w="17780">
            <a:solidFill>
              <a:srgbClr val="B54708"/>
            </a:solidFill>
            <a:prstDash val="dash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394192" y="3950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470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履约 bond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631936" y="4745736"/>
            <a:ext cx="749808" cy="0"/>
          </a:xfrm>
          <a:prstGeom prst="line">
            <a:avLst/>
          </a:prstGeom>
          <a:noFill/>
          <a:ln w="13970">
            <a:solidFill>
              <a:srgbClr val="16181C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686800" y="51755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 → 放款专家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争议 → 退款 + 扣罚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76288" y="3566160"/>
            <a:ext cx="0" cy="768096"/>
          </a:xfrm>
          <a:prstGeom prst="line">
            <a:avLst/>
          </a:prstGeom>
          <a:noFill/>
          <a:ln w="15875">
            <a:solidFill>
              <a:srgbClr val="16181C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261104" y="3712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同一任务 · 签名哈希绑定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 flipV="1">
            <a:off x="7470648" y="5157216"/>
            <a:ext cx="0" cy="329184"/>
          </a:xfrm>
          <a:prstGeom prst="line">
            <a:avLst/>
          </a:prstGeom>
          <a:noFill/>
          <a:ln w="13970">
            <a:solidFill>
              <a:srgbClr val="D92D20"/>
            </a:solidFill>
            <a:prstDash val="dash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589520" y="5248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争议时介入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4360" y="6382512"/>
            <a:ext cx="274320" cy="0"/>
          </a:xfrm>
          <a:prstGeom prst="line">
            <a:avLst/>
          </a:prstGeom>
          <a:noFill/>
          <a:ln w="25400">
            <a:solidFill>
              <a:srgbClr val="0794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" y="6272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证据流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48840" y="6382512"/>
            <a:ext cx="274320" cy="0"/>
          </a:xfrm>
          <a:prstGeom prst="line">
            <a:avLst/>
          </a:prstGeom>
          <a:noFill/>
          <a:ln w="25400">
            <a:solidFill>
              <a:srgbClr val="B54708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2496312" y="6272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03320" y="6382512"/>
            <a:ext cx="274320" cy="0"/>
          </a:xfrm>
          <a:prstGeom prst="line">
            <a:avLst/>
          </a:prstGeom>
          <a:noFill/>
          <a:ln w="25400">
            <a:solidFill>
              <a:srgbClr val="16181C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4050792" y="6272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责任绑定 · 记录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57800" y="6382512"/>
            <a:ext cx="274320" cy="0"/>
          </a:xfrm>
          <a:prstGeom prst="line">
            <a:avLst/>
          </a:prstGeom>
          <a:noFill/>
          <a:ln w="25400">
            <a:solidFill>
              <a:srgbClr val="D92D20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5605272" y="6272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争议路径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· 版权与信任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10/12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原文不动，信任流动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简报、抽查、挑战、陪审——每一步跨主体交换的，都只是结论、定位、引用范围与哈希承诺。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需要核对原文时，由持有授权的一方在自己的边界内调取。版权安全不是事后打的补丁，而是验证机制天然的副产品。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5204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204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 不做搜索引擎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35204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FCF1F0"/>
          </a:solidFill>
          <a:ln w="12700">
            <a:solidFill>
              <a:srgbClr val="F2C7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✕ 不卖论文全文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4224528"/>
            <a:ext cx="2395728" cy="868680"/>
          </a:xfrm>
          <a:prstGeom prst="roundRect">
            <a:avLst>
              <a:gd name="adj" fmla="val 5789"/>
            </a:avLst>
          </a:prstGeom>
          <a:solidFill>
            <a:srgbClr val="F7F8FA"/>
          </a:solidFill>
          <a:ln w="12700">
            <a:solidFill>
              <a:srgbClr val="E9EA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224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永远留在授权边界内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" y="4553712"/>
            <a:ext cx="98755" cy="98755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85F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614062"/>
            <a:ext cx="149962" cy="107899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3970">
            <a:solidFill>
              <a:srgbClr val="585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4663440"/>
            <a:ext cx="502920" cy="0"/>
          </a:xfrm>
          <a:prstGeom prst="line">
            <a:avLst/>
          </a:prstGeom>
          <a:noFill/>
          <a:ln w="20320">
            <a:solidFill>
              <a:srgbClr val="0794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0" y="4224528"/>
            <a:ext cx="2148840" cy="86868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6510">
            <a:solidFill>
              <a:srgbClr val="079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22452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跨主体流动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· 定位 · 范围 · 哈希承诺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57276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为什么是 MERKLE 树 — 一棵树解决四件事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55080" y="1938528"/>
            <a:ext cx="2487168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0299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22494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专家赖不掉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5603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每一条内容都在它签过名的树里，事后无法否认或改口。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07424" y="1938528"/>
            <a:ext cx="2487168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25" name="Text 23"/>
          <p:cNvSpPr/>
          <p:nvPr/>
        </p:nvSpPr>
        <p:spPr>
          <a:xfrm>
            <a:off x="9107424" y="20299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07424" y="22494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用户伪造不了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07424" y="25603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想栽赃，提交的定位、范围和哈希路径必须重算出签过名的树根——凑不出来。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419856"/>
            <a:ext cx="2487168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51129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55080" y="373075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争议最小披露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04164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挑战与应辩只交换争议那一条的定位、范围和哈希路径，无需公开原文。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07424" y="3419856"/>
            <a:ext cx="2487168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33" name="Text 31"/>
          <p:cNvSpPr/>
          <p:nvPr/>
        </p:nvSpPr>
        <p:spPr>
          <a:xfrm>
            <a:off x="9107424" y="351129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07424" y="373075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被冤枉一证翻案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07424" y="404164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被指「漏检」时，出示包含该文献的叶子与路径，立刻自证清白。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5577840"/>
            <a:ext cx="11002975" cy="0"/>
          </a:xfrm>
          <a:prstGeom prst="line">
            <a:avLst/>
          </a:prstGeom>
          <a:noFill/>
          <a:ln w="15240">
            <a:solidFill>
              <a:srgbClr val="1618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687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76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ProofMarket 的承诺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59436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不承诺「绝对正确的答案」；承诺可定位、可抽查、可挑战的证据支持，以及对覆盖声明承担经济责任的专家。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·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11/12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一条完整闭环，两幕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869680" y="768096"/>
            <a:ext cx="2724912" cy="365760"/>
          </a:xfrm>
          <a:prstGeom prst="roundRect">
            <a:avLst>
              <a:gd name="adj" fmla="val 20000"/>
            </a:avLst>
          </a:prstGeom>
          <a:solidFill>
            <a:srgbClr val="EDF7F2"/>
          </a:solidFill>
          <a:ln w="12700">
            <a:solidFill>
              <a:srgbClr val="BFE3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6809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SEPOLIA 真链 · ETHERSCAN 逐笔可查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ACT I · 成功主线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2212848"/>
            <a:ext cx="9829800" cy="0"/>
          </a:xfrm>
          <a:prstGeom prst="line">
            <a:avLst/>
          </a:prstGeom>
          <a:noFill/>
          <a:ln w="22225">
            <a:solidFill>
              <a:srgbClr val="0794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" y="2162556"/>
            <a:ext cx="100584" cy="100584"/>
          </a:xfrm>
          <a:prstGeom prst="ellipse">
            <a:avLst/>
          </a:prstGeom>
          <a:solidFill>
            <a:srgbClr val="079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4592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提问 · 设预算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4348" y="2162556"/>
            <a:ext cx="100584" cy="100584"/>
          </a:xfrm>
          <a:prstGeom prst="ellipse">
            <a:avLst/>
          </a:prstGeom>
          <a:solidFill>
            <a:srgbClr val="079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委托方案 · 信誉排序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0308" y="2162556"/>
            <a:ext cx="100584" cy="100584"/>
          </a:xfrm>
          <a:prstGeom prst="ellipse">
            <a:avLst/>
          </a:prstGeom>
          <a:solidFill>
            <a:srgbClr val="079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Cobo 授权 · 越权被拦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16268" y="2162556"/>
            <a:ext cx="100584" cy="100584"/>
          </a:xfrm>
          <a:prstGeom prst="ellipse">
            <a:avLst/>
          </a:prstGeom>
          <a:solidFill>
            <a:srgbClr val="079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97880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托管注资 · bond 锁定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2228" y="2162556"/>
            <a:ext cx="100584" cy="100584"/>
          </a:xfrm>
          <a:prstGeom prst="ellipse">
            <a:avLst/>
          </a:prstGeom>
          <a:solidFill>
            <a:srgbClr val="079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3840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简报交付 · 抽查全绿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648188" y="2162556"/>
            <a:ext cx="100584" cy="100584"/>
          </a:xfrm>
          <a:prstGeom prst="ellipse">
            <a:avLst/>
          </a:prstGeom>
          <a:solidFill>
            <a:srgbClr val="079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76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29800" y="2395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放款 · 评分上链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ACT II · 挑战分支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68680" y="3895344"/>
            <a:ext cx="9829800" cy="0"/>
          </a:xfrm>
          <a:prstGeom prst="line">
            <a:avLst/>
          </a:prstGeom>
          <a:noFill/>
          <a:ln w="22225">
            <a:solidFill>
              <a:srgbClr val="D92D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" y="3845052"/>
            <a:ext cx="100584" cy="10058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4592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改选低信誉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「速查」专家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5838" y="3845052"/>
            <a:ext cx="100584" cy="10058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1730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1173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抽查双红：哈希错配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声明范围内漏代表作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33288" y="3845052"/>
            <a:ext cx="100584" cy="10058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9180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918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一键挑战包：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押金 + 陪审费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90738" y="3845052"/>
            <a:ext cx="100584" cy="10058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26630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2663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应辩 · 陪审员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本地重算哈希复核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648188" y="3845052"/>
            <a:ext cx="100584" cy="10058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78408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清算：扣 bond · 退款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奖励挑战者 · 信誉下降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4360" y="4956048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065776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当前边界 — 证明机制闭环，不假装商业网络已经成熟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94360" y="541324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托管 · bond · 挑战 · 应辩 · 投票 · 清算 · 信誉——全部真实上链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676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Cobo 授权与越权拒绝——真实服务端策略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54132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 简报、抽查与挑战包内容为可复现的预置样例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 不声称开放市场已成熟 · 不声称全网查全 · 不传阅原文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618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· 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5413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12/12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0"/>
          </a:xfrm>
          <a:prstGeom prst="line">
            <a:avLst/>
          </a:prstGeom>
          <a:noFill/>
          <a:ln w="9525">
            <a:solidFill>
              <a:srgbClr val="CFD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6809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不是搜索引擎，也不是论文售卖平台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产出很难，验证很容易。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先信任交付，事后概率抽查——只要作恶必然不划算，诚实就是唯一稳定策略。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2560320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COBO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安全地花钱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39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任务级授权：预算 · 地址 · 函数 · 时限，越权请求被真实拒绝。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054" y="3017520"/>
            <a:ext cx="2560320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13" name="Text 11"/>
          <p:cNvSpPr/>
          <p:nvPr/>
        </p:nvSpPr>
        <p:spPr>
          <a:xfrm>
            <a:off x="3407054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BRIEF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7054" y="3328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可问责的交付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7054" y="3639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每条结论落到定位与引用哈希，签名上链——赖不掉、改不了。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9749" y="3017520"/>
            <a:ext cx="2560320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9749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AUDIT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9749" y="3328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局部资料即可约束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9749" y="3639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委托方用本地存档概率抽查——信息不对称站在诚实一方。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32443" y="3017520"/>
            <a:ext cx="2560320" cy="23774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21" name="Text 19"/>
          <p:cNvSpPr/>
          <p:nvPr/>
        </p:nvSpPr>
        <p:spPr>
          <a:xfrm>
            <a:off x="9032443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32443" y="3328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原文不动，信任流动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32443" y="3639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85F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跨主体流动的只有定位、引用范围与哈希承诺。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4983480"/>
            <a:ext cx="11002975" cy="0"/>
          </a:xfrm>
          <a:prstGeom prst="line">
            <a:avLst/>
          </a:prstGeom>
          <a:noFill/>
          <a:ln w="15240">
            <a:solidFill>
              <a:srgbClr val="1618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175504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1618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当 Agent 需要权威依据时——如何安全地获得证据、验证证据，并让提供证据的一方真正为交付负责？ProofMarket 是对这个问题的回答。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94360" y="63550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F76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PROOFMARKET · SEPOLIA TESTNET · mUSDC · COBO AGENTIC WALLET · ERC-8004 · ERC-8183 · 2026-06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ProofMarket — AI Agent 的可信专业资料网络</dc:title>
  <dc:subject>PptxGenJS Presentation</dc:subject>
  <dc:creator>Luke</dc:creator>
  <cp:lastModifiedBy>Luke</cp:lastModifiedBy>
  <cp:revision>1</cp:revision>
  <dcterms:created xsi:type="dcterms:W3CDTF">2026-06-12T21:04:06Z</dcterms:created>
  <dcterms:modified xsi:type="dcterms:W3CDTF">2026-06-12T21:04:06Z</dcterms:modified>
</cp:coreProperties>
</file>